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70" r:id="rId8"/>
    <p:sldId id="269" r:id="rId9"/>
    <p:sldId id="268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68"/>
    <p:restoredTop sz="94143"/>
  </p:normalViewPr>
  <p:slideViewPr>
    <p:cSldViewPr snapToGrid="0">
      <p:cViewPr varScale="1">
        <p:scale>
          <a:sx n="72" d="100"/>
          <a:sy n="72" d="100"/>
        </p:scale>
        <p:origin x="5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D3828-80FC-FAD3-EB4C-2DBFEF62B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058F8-E20C-F2B0-9D73-992AEB24F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C33A8-AD8A-B534-0CC5-3553087B1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EF0B-55D9-2B4C-901E-7633B195A9D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E4CFF-4954-9DDA-D473-6DBF400A6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DCF4-1067-383A-4AD0-49318730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8FE1-0F10-154F-BA00-CFE3A1619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2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AB0A-FB10-8814-9B78-E6B25617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340FE-4CF3-84E5-E340-02B6E9DE2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0F1A5-4244-4DD1-3C72-2E0F6A75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EF0B-55D9-2B4C-901E-7633B195A9D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8EBB-EFBF-AA34-D684-E77A85EA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64489-9A03-1F06-7F9B-290691B03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8FE1-0F10-154F-BA00-CFE3A1619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2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472D-6EFB-B437-8932-76536F512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082D9-0658-15A7-5DC2-535D12BD9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7BE81-C39D-EFA0-708D-BE88E8A14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EF0B-55D9-2B4C-901E-7633B195A9D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6ED8F-66B7-B158-6A33-117D612A6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93665-DE9D-7977-49E8-E767CC56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8FE1-0F10-154F-BA00-CFE3A1619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40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CE517-F1EA-9BAF-28E0-C70C898F4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E5DBF-E72A-02D1-3660-FC94727D5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22723-3FC3-44A0-1583-1ECE9EF60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F79A4-A84E-854F-2A65-9BB0AC5A8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EF0B-55D9-2B4C-901E-7633B195A9D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B1C8D-406B-3418-A1AF-84C65301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68259-F4A0-5901-B09E-0C2C6B58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8FE1-0F10-154F-BA00-CFE3A1619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78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13CB-2F97-6014-BCCE-842515A0C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AF8DE-859E-D6C9-1ECB-5B3B42A36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50D0C-718C-0162-D2C0-894F56393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BEEEE-19F5-BD53-5465-70434BD49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9565F1-AC31-0858-BE8C-56E367EFA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58B251-93C0-5AE2-A7F5-47F582A72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EF0B-55D9-2B4C-901E-7633B195A9D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FD342-E926-5D49-820F-0E8C9E58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AD8B0-056B-EAB7-A569-EDAA6118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8FE1-0F10-154F-BA00-CFE3A1619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63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0C422-870B-8F5E-E221-1FD5FC28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8EBDC3-513C-9F2C-AC21-2F6140CFF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EF0B-55D9-2B4C-901E-7633B195A9D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46F87B-3EB2-D478-3B61-88568FA2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6F42C-0AE1-F9D5-3E1A-3E96AF21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8FE1-0F10-154F-BA00-CFE3A1619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7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8D9715-B584-2187-A861-99AED98D7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EF0B-55D9-2B4C-901E-7633B195A9D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A8250-C6A1-D4B9-95D8-5737D3CEF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294C2-CB4D-5118-EB74-A5C50C93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8FE1-0F10-154F-BA00-CFE3A1619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1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97020-5E65-3CD2-CE0F-FB2964874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B72D0-AAD5-6B5D-8FEA-1A8C7A0E9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06EF6-727A-7F69-38F1-A9F9F450F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112B1-B70C-E174-B69D-5EFEED86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EF0B-55D9-2B4C-901E-7633B195A9D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D2F3C-1E4E-5E77-84C7-21E32520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48002-81E6-D71A-2EED-A4D1D1DEA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8FE1-0F10-154F-BA00-CFE3A1619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1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88820-C9CF-F251-2C1D-FADAEBA6E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06F76-6D4D-BF9E-EC83-003F0F263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6A2F7-A924-4CAB-F6F6-55ABA49DE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6BC86-5869-EECE-3AE1-E0637370B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EF0B-55D9-2B4C-901E-7633B195A9D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C7522-334F-B84C-99F3-08664F7E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90CFD-DECA-D06A-F868-5049CE2E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8FE1-0F10-154F-BA00-CFE3A1619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44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1A3B-E7AA-01BC-6AE1-D1620C27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7B71A-8181-6774-9E1E-518F97808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A4B11-1AC2-2B42-215A-B46E54CB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EF0B-55D9-2B4C-901E-7633B195A9D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ED7CD-8100-AA1F-2A61-9890F56FA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FD5C7-30C1-B44B-F7DD-A3EC23B15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8FE1-0F10-154F-BA00-CFE3A1619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61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A0F2EA-F32D-E291-7CF9-8DFEA3F95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2BDFB-F83E-D281-3DA3-D5F319545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A9A89-4983-8286-2625-76335138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EF0B-55D9-2B4C-901E-7633B195A9D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6D6D-17B8-7E8D-9124-7C280393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6B2D9-5B2A-14D8-2195-BC49A8CC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F8FE1-0F10-154F-BA00-CFE3A1619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51EAD-5927-3B8C-D0E6-9D9DF2153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265D5-1F7A-663A-10FF-FD486417B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5BF39-97B4-C84F-A7F5-76FF97667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5EF0B-55D9-2B4C-901E-7633B195A9DA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83E15-0355-3505-BFB9-376BE6C15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0F59E-2953-C804-ABBF-7EAFDA403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F8FE1-0F10-154F-BA00-CFE3A1619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27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oi.org/10.1186/1741-7007-12-29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an-ball.jp/en/javagame/dus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https://www.youtube.com/watch?v=9JhVKu4GEA8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EQ2ywYhYs5Y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65B4B-BE59-1634-552D-34DA54155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00347"/>
          </a:xfrm>
        </p:spPr>
        <p:txBody>
          <a:bodyPr>
            <a:normAutofit fontScale="90000"/>
          </a:bodyPr>
          <a:lstStyle/>
          <a:p>
            <a:r>
              <a:rPr lang="en-US" dirty="0"/>
              <a:t>Intro to Programming Part 4: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Modeling and</a:t>
            </a:r>
            <a:br>
              <a:rPr lang="en-US" dirty="0"/>
            </a:br>
            <a:r>
              <a:rPr lang="en-US" dirty="0"/>
              <a:t>simulations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483B7-8C3E-71DF-3A0D-135183921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37868"/>
            <a:ext cx="9144000" cy="835091"/>
          </a:xfrm>
        </p:spPr>
        <p:txBody>
          <a:bodyPr/>
          <a:lstStyle/>
          <a:p>
            <a:r>
              <a:rPr lang="en-US" dirty="0"/>
              <a:t>Luisa Escobar-Robledo, Chris Morii-Sciolla</a:t>
            </a:r>
          </a:p>
        </p:txBody>
      </p:sp>
    </p:spTree>
    <p:extLst>
      <p:ext uri="{BB962C8B-B14F-4D97-AF65-F5344CB8AC3E}">
        <p14:creationId xmlns:p14="http://schemas.microsoft.com/office/powerpoint/2010/main" val="3074381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E69A-762F-70D2-E627-A5B61FEF0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01BAB-9E6E-9E3A-2E33-F03DF7DD9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05218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"Our simplified yet useful representation of reality."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Predict the future.</a:t>
            </a:r>
          </a:p>
          <a:p>
            <a:r>
              <a:rPr lang="en-US" dirty="0"/>
              <a:t>Predict different outcomes.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“Modeling”: To build, analyze, test, and critique models (of biology).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D9CB0F-BEF1-192F-9232-F54B8F7476A7}"/>
              </a:ext>
            </a:extLst>
          </p:cNvPr>
          <p:cNvSpPr txBox="1"/>
          <p:nvPr/>
        </p:nvSpPr>
        <p:spPr>
          <a:xfrm>
            <a:off x="1148577" y="5926491"/>
            <a:ext cx="971271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Gunawardena, J. Models in biology: ‘accurate descriptions of our pathetic thinking’. </a:t>
            </a:r>
            <a:r>
              <a:rPr lang="en-US" sz="1600" i="1" dirty="0">
                <a:ea typeface="+mn-lt"/>
                <a:cs typeface="+mn-lt"/>
              </a:rPr>
              <a:t>BMC Biol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b="1" dirty="0">
                <a:ea typeface="+mn-lt"/>
                <a:cs typeface="+mn-lt"/>
              </a:rPr>
              <a:t>12</a:t>
            </a:r>
            <a:r>
              <a:rPr lang="en-US" sz="1600" dirty="0">
                <a:ea typeface="+mn-lt"/>
                <a:cs typeface="+mn-lt"/>
              </a:rPr>
              <a:t>, 29 (2014). </a:t>
            </a:r>
            <a:r>
              <a:rPr lang="en-US" sz="1600" dirty="0">
                <a:ea typeface="+mn-lt"/>
                <a:cs typeface="+mn-lt"/>
                <a:hlinkClick r:id="rId2"/>
              </a:rPr>
              <a:t>https://doi.org/10.1186/1741-7007-12-29</a:t>
            </a:r>
            <a:endParaRPr lang="en-US" sz="1600" dirty="0">
              <a:ea typeface="+mn-lt"/>
              <a:cs typeface="+mn-lt"/>
            </a:endParaRPr>
          </a:p>
        </p:txBody>
      </p:sp>
      <p:pic>
        <p:nvPicPr>
          <p:cNvPr id="1028" name="Picture 4" descr="A model should be as simple as it can be but no simpler - Albert Einstein">
            <a:extLst>
              <a:ext uri="{FF2B5EF4-FFF2-40B4-BE49-F238E27FC236}">
                <a16:creationId xmlns:a16="http://schemas.microsoft.com/office/drawing/2014/main" id="{EA3D33DA-92A7-6259-28B4-459363650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300" y="2400865"/>
            <a:ext cx="4864333" cy="228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061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scherichia coli (E. coli)">
            <a:extLst>
              <a:ext uri="{FF2B5EF4-FFF2-40B4-BE49-F238E27FC236}">
                <a16:creationId xmlns:a16="http://schemas.microsoft.com/office/drawing/2014/main" id="{410AB5A0-3C08-E5B8-A5D2-C9CAF22FDB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73" r="18959" b="2842"/>
          <a:stretch/>
        </p:blipFill>
        <p:spPr>
          <a:xfrm>
            <a:off x="3512445" y="10"/>
            <a:ext cx="8856251" cy="7012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1A3280-9C69-D132-900D-5DD89873B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29" y="1524258"/>
            <a:ext cx="5304403" cy="521303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 simple growth model: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Bacterial cells divide every 20 min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Starting from one cell, how many cells in 4 hours?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66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1E364-4E44-9E31-FE5F-213A7D9D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Doubling every 20 minutes is a “chain reaction”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DA52050-01B7-11EF-EAC2-BC079E37B522}"/>
              </a:ext>
            </a:extLst>
          </p:cNvPr>
          <p:cNvGraphicFramePr>
            <a:graphicFrameLocks noGrp="1"/>
          </p:cNvGraphicFramePr>
          <p:nvPr/>
        </p:nvGraphicFramePr>
        <p:xfrm>
          <a:off x="6637454" y="1557432"/>
          <a:ext cx="5405862" cy="4128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954">
                  <a:extLst>
                    <a:ext uri="{9D8B030D-6E8A-4147-A177-3AD203B41FA5}">
                      <a16:colId xmlns:a16="http://schemas.microsoft.com/office/drawing/2014/main" val="1407354225"/>
                    </a:ext>
                  </a:extLst>
                </a:gridCol>
                <a:gridCol w="1801954">
                  <a:extLst>
                    <a:ext uri="{9D8B030D-6E8A-4147-A177-3AD203B41FA5}">
                      <a16:colId xmlns:a16="http://schemas.microsoft.com/office/drawing/2014/main" val="4134497414"/>
                    </a:ext>
                  </a:extLst>
                </a:gridCol>
                <a:gridCol w="1801954">
                  <a:extLst>
                    <a:ext uri="{9D8B030D-6E8A-4147-A177-3AD203B41FA5}">
                      <a16:colId xmlns:a16="http://schemas.microsoft.com/office/drawing/2014/main" val="898824876"/>
                    </a:ext>
                  </a:extLst>
                </a:gridCol>
              </a:tblGrid>
              <a:tr h="82573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Time [min]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Generation</a:t>
                      </a:r>
                    </a:p>
                    <a:p>
                      <a:pPr algn="ctr"/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Nr. of cells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415117"/>
                  </a:ext>
                </a:extLst>
              </a:tr>
              <a:tr h="8257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105953"/>
                  </a:ext>
                </a:extLst>
              </a:tr>
              <a:tr h="8257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256398"/>
                  </a:ext>
                </a:extLst>
              </a:tr>
              <a:tr h="8257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051275"/>
                  </a:ext>
                </a:extLst>
              </a:tr>
              <a:tr h="8257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295770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2F2224D0-8D54-4DC7-C794-DF96D85B5908}"/>
              </a:ext>
            </a:extLst>
          </p:cNvPr>
          <p:cNvGrpSpPr/>
          <p:nvPr/>
        </p:nvGrpSpPr>
        <p:grpSpPr>
          <a:xfrm>
            <a:off x="838200" y="2320003"/>
            <a:ext cx="5475276" cy="2890371"/>
            <a:chOff x="620724" y="2635313"/>
            <a:chExt cx="5883108" cy="310566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47A107A-3080-8E81-77C4-BBD295F0071C}"/>
                </a:ext>
              </a:extLst>
            </p:cNvPr>
            <p:cNvSpPr/>
            <p:nvPr/>
          </p:nvSpPr>
          <p:spPr>
            <a:xfrm>
              <a:off x="3305085" y="2635313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4">
              <a:extLst>
                <a:ext uri="{FF2B5EF4-FFF2-40B4-BE49-F238E27FC236}">
                  <a16:creationId xmlns:a16="http://schemas.microsoft.com/office/drawing/2014/main" id="{BD68D651-8B37-48D1-6CEE-9094910A679A}"/>
                </a:ext>
              </a:extLst>
            </p:cNvPr>
            <p:cNvSpPr/>
            <p:nvPr/>
          </p:nvSpPr>
          <p:spPr>
            <a:xfrm>
              <a:off x="1777256" y="3427770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CE102E43-C5DE-A283-5959-DBA04E13D4F8}"/>
                </a:ext>
              </a:extLst>
            </p:cNvPr>
            <p:cNvSpPr/>
            <p:nvPr/>
          </p:nvSpPr>
          <p:spPr>
            <a:xfrm>
              <a:off x="5016669" y="3427770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BAE35A56-5CD9-2945-369A-A0581FB43075}"/>
                </a:ext>
              </a:extLst>
            </p:cNvPr>
            <p:cNvSpPr/>
            <p:nvPr/>
          </p:nvSpPr>
          <p:spPr>
            <a:xfrm>
              <a:off x="620724" y="5502455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B65508C8-91BC-02C4-54CB-FC06F10291E8}"/>
                </a:ext>
              </a:extLst>
            </p:cNvPr>
            <p:cNvSpPr/>
            <p:nvPr/>
          </p:nvSpPr>
          <p:spPr>
            <a:xfrm>
              <a:off x="1402906" y="5502455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71D7647A-DD2B-18CA-0BE7-1AED4A2A1924}"/>
                </a:ext>
              </a:extLst>
            </p:cNvPr>
            <p:cNvSpPr/>
            <p:nvPr/>
          </p:nvSpPr>
          <p:spPr>
            <a:xfrm>
              <a:off x="2185088" y="5502455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3792579E-3EBB-1356-7EBF-DA0665F98BD1}"/>
                </a:ext>
              </a:extLst>
            </p:cNvPr>
            <p:cNvSpPr/>
            <p:nvPr/>
          </p:nvSpPr>
          <p:spPr>
            <a:xfrm>
              <a:off x="2967270" y="5502455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BBCECC15-BDB0-CFDC-ACD6-72431924F172}"/>
                </a:ext>
              </a:extLst>
            </p:cNvPr>
            <p:cNvSpPr/>
            <p:nvPr/>
          </p:nvSpPr>
          <p:spPr>
            <a:xfrm>
              <a:off x="3749452" y="5502455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4">
              <a:extLst>
                <a:ext uri="{FF2B5EF4-FFF2-40B4-BE49-F238E27FC236}">
                  <a16:creationId xmlns:a16="http://schemas.microsoft.com/office/drawing/2014/main" id="{7B8366CA-4E15-54AA-3B51-6B166A9108BF}"/>
                </a:ext>
              </a:extLst>
            </p:cNvPr>
            <p:cNvSpPr/>
            <p:nvPr/>
          </p:nvSpPr>
          <p:spPr>
            <a:xfrm>
              <a:off x="4531634" y="5502455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55F5DE41-06A4-9255-6356-013BCA1FDBD8}"/>
                </a:ext>
              </a:extLst>
            </p:cNvPr>
            <p:cNvSpPr/>
            <p:nvPr/>
          </p:nvSpPr>
          <p:spPr>
            <a:xfrm>
              <a:off x="5313816" y="5502455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4">
              <a:extLst>
                <a:ext uri="{FF2B5EF4-FFF2-40B4-BE49-F238E27FC236}">
                  <a16:creationId xmlns:a16="http://schemas.microsoft.com/office/drawing/2014/main" id="{27969F50-265F-B7C9-260F-ABFAF03F30BC}"/>
                </a:ext>
              </a:extLst>
            </p:cNvPr>
            <p:cNvSpPr/>
            <p:nvPr/>
          </p:nvSpPr>
          <p:spPr>
            <a:xfrm>
              <a:off x="6096000" y="5502455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D38AEA8C-081A-956D-52CC-D71CCE3B7C8D}"/>
                </a:ext>
              </a:extLst>
            </p:cNvPr>
            <p:cNvSpPr/>
            <p:nvPr/>
          </p:nvSpPr>
          <p:spPr>
            <a:xfrm>
              <a:off x="1028556" y="4465112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4">
              <a:extLst>
                <a:ext uri="{FF2B5EF4-FFF2-40B4-BE49-F238E27FC236}">
                  <a16:creationId xmlns:a16="http://schemas.microsoft.com/office/drawing/2014/main" id="{14275FAC-0482-B895-028F-A0969DEB4B19}"/>
                </a:ext>
              </a:extLst>
            </p:cNvPr>
            <p:cNvSpPr/>
            <p:nvPr/>
          </p:nvSpPr>
          <p:spPr>
            <a:xfrm>
              <a:off x="2592920" y="4465112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4">
              <a:extLst>
                <a:ext uri="{FF2B5EF4-FFF2-40B4-BE49-F238E27FC236}">
                  <a16:creationId xmlns:a16="http://schemas.microsoft.com/office/drawing/2014/main" id="{F5837C1D-2128-158D-C6C2-DA552775E8A2}"/>
                </a:ext>
              </a:extLst>
            </p:cNvPr>
            <p:cNvSpPr/>
            <p:nvPr/>
          </p:nvSpPr>
          <p:spPr>
            <a:xfrm>
              <a:off x="5721648" y="4465112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4BE49D8A-79DA-E0CC-C41C-BEF1277F10F2}"/>
                </a:ext>
              </a:extLst>
            </p:cNvPr>
            <p:cNvSpPr/>
            <p:nvPr/>
          </p:nvSpPr>
          <p:spPr>
            <a:xfrm>
              <a:off x="4157284" y="4465112"/>
              <a:ext cx="407832" cy="238521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A490B17-93E1-75A5-F788-D21D003D4AE4}"/>
                </a:ext>
              </a:extLst>
            </p:cNvPr>
            <p:cNvCxnSpPr/>
            <p:nvPr/>
          </p:nvCxnSpPr>
          <p:spPr>
            <a:xfrm flipH="1">
              <a:off x="2286000" y="2873834"/>
              <a:ext cx="1019085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6FEEB90-BF0C-699A-F0BC-870895F08519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3800018" y="2873834"/>
              <a:ext cx="1019085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AB6A016-15FF-42AC-5AB6-96E5BDD7B4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1195" y="3788733"/>
              <a:ext cx="509543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532E906-8E9E-B3F9-31E0-53B617C66591}"/>
                </a:ext>
              </a:extLst>
            </p:cNvPr>
            <p:cNvCxnSpPr>
              <a:cxnSpLocks/>
            </p:cNvCxnSpPr>
            <p:nvPr/>
          </p:nvCxnSpPr>
          <p:spPr>
            <a:xfrm>
              <a:off x="2152681" y="3788733"/>
              <a:ext cx="509543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DD4E960-A36F-F5AB-143B-3275EA06BE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0938" y="3753469"/>
              <a:ext cx="509543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C53AC2D-3BA6-8BAD-034E-E9409C4E4CC7}"/>
                </a:ext>
              </a:extLst>
            </p:cNvPr>
            <p:cNvCxnSpPr>
              <a:cxnSpLocks/>
            </p:cNvCxnSpPr>
            <p:nvPr/>
          </p:nvCxnSpPr>
          <p:spPr>
            <a:xfrm>
              <a:off x="5382424" y="3753469"/>
              <a:ext cx="509543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6049FCF-8DC4-C1AF-AB62-C9B4B73A23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059" y="4826076"/>
              <a:ext cx="223971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3518684-731F-BF69-E9E9-9317998C93A4}"/>
                </a:ext>
              </a:extLst>
            </p:cNvPr>
            <p:cNvCxnSpPr>
              <a:cxnSpLocks/>
            </p:cNvCxnSpPr>
            <p:nvPr/>
          </p:nvCxnSpPr>
          <p:spPr>
            <a:xfrm>
              <a:off x="1395995" y="4826076"/>
              <a:ext cx="210827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02EC4AB-8310-FDE6-1E15-8B49570F93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89201" y="4813058"/>
              <a:ext cx="223971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C615FE7-DF59-AE6B-5B69-54818289B4FA}"/>
                </a:ext>
              </a:extLst>
            </p:cNvPr>
            <p:cNvCxnSpPr>
              <a:cxnSpLocks/>
            </p:cNvCxnSpPr>
            <p:nvPr/>
          </p:nvCxnSpPr>
          <p:spPr>
            <a:xfrm>
              <a:off x="2961137" y="4813058"/>
              <a:ext cx="210827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1815A00-86C9-8397-BEAE-2E8A83421A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922" y="4798229"/>
              <a:ext cx="223971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F595DBBC-FAD1-37B6-4C7C-39B856585C69}"/>
                </a:ext>
              </a:extLst>
            </p:cNvPr>
            <p:cNvCxnSpPr>
              <a:cxnSpLocks/>
            </p:cNvCxnSpPr>
            <p:nvPr/>
          </p:nvCxnSpPr>
          <p:spPr>
            <a:xfrm>
              <a:off x="4530858" y="4798229"/>
              <a:ext cx="210827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2377FA2-F4BE-BB15-E76F-40712B560D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4064" y="4785211"/>
              <a:ext cx="223971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63152FA-A9D7-389A-1F53-458F208DC0E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4785211"/>
              <a:ext cx="210827" cy="553936"/>
            </a:xfrm>
            <a:prstGeom prst="straightConnector1">
              <a:avLst/>
            </a:prstGeom>
            <a:ln w="25400">
              <a:headEnd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161B67-59C9-2C4E-AB1C-39D7A82D157A}"/>
                  </a:ext>
                </a:extLst>
              </p:cNvPr>
              <p:cNvSpPr txBox="1"/>
              <p:nvPr/>
            </p:nvSpPr>
            <p:spPr>
              <a:xfrm>
                <a:off x="4370923" y="5825770"/>
                <a:ext cx="221790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dirty="0"/>
                  <a:t>=   </a:t>
                </a:r>
                <a14:m>
                  <m:oMath xmlns:m="http://schemas.openxmlformats.org/officeDocument/2006/math">
                    <m:r>
                      <a:rPr lang="en-US" sz="48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48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161B67-59C9-2C4E-AB1C-39D7A82D1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923" y="5825770"/>
                <a:ext cx="2217907" cy="830997"/>
              </a:xfrm>
              <a:prstGeom prst="rect">
                <a:avLst/>
              </a:prstGeom>
              <a:blipFill>
                <a:blip r:embed="rId2"/>
                <a:stretch>
                  <a:fillRect l="-12571" t="-14925" b="-37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A9DFDB8-CD7F-0588-6D93-42ACD4BC52F1}"/>
              </a:ext>
            </a:extLst>
          </p:cNvPr>
          <p:cNvSpPr txBox="1"/>
          <p:nvPr/>
        </p:nvSpPr>
        <p:spPr>
          <a:xfrm>
            <a:off x="2399492" y="5869960"/>
            <a:ext cx="2098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Cell number in</a:t>
            </a:r>
          </a:p>
          <a:p>
            <a:r>
              <a:rPr lang="en-US" sz="2000" dirty="0"/>
              <a:t>next generation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E92674-005A-61CC-0E2C-A3C28E491625}"/>
                  </a:ext>
                </a:extLst>
              </p:cNvPr>
              <p:cNvSpPr txBox="1"/>
              <p:nvPr/>
            </p:nvSpPr>
            <p:spPr>
              <a:xfrm>
                <a:off x="7421504" y="5967653"/>
                <a:ext cx="43711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800" b="0" dirty="0"/>
                  <a:t> current cell number</a:t>
                </a:r>
                <a:endParaRPr lang="en-US" sz="20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E92674-005A-61CC-0E2C-A3C28E491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504" y="5967653"/>
                <a:ext cx="4371103" cy="523220"/>
              </a:xfrm>
              <a:prstGeom prst="rect">
                <a:avLst/>
              </a:prstGeom>
              <a:blipFill>
                <a:blip r:embed="rId3"/>
                <a:stretch>
                  <a:fillRect l="-870" t="-11628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062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61DB-BC45-E25C-A798-4FA00519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9172"/>
            <a:ext cx="10515600" cy="219965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How would you predict the # of cells vs. time?</a:t>
            </a:r>
          </a:p>
        </p:txBody>
      </p:sp>
    </p:spTree>
    <p:extLst>
      <p:ext uri="{BB962C8B-B14F-4D97-AF65-F5344CB8AC3E}">
        <p14:creationId xmlns:p14="http://schemas.microsoft.com/office/powerpoint/2010/main" val="48471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00A7A-8FFB-95ED-CF35-17EAB029B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Bacterial division leads to exponential growth</a:t>
            </a:r>
          </a:p>
        </p:txBody>
      </p:sp>
      <p:pic>
        <p:nvPicPr>
          <p:cNvPr id="2050" name="Picture 2" descr="Growth Curves, CFU and Optical Density Measurements (Video) | JoVE">
            <a:extLst>
              <a:ext uri="{FF2B5EF4-FFF2-40B4-BE49-F238E27FC236}">
                <a16:creationId xmlns:a16="http://schemas.microsoft.com/office/drawing/2014/main" id="{EA0CF2C0-6A4B-D14A-59E8-4D465698B0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75"/>
          <a:stretch/>
        </p:blipFill>
        <p:spPr bwMode="auto">
          <a:xfrm>
            <a:off x="1024054" y="1690688"/>
            <a:ext cx="7045712" cy="437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7ABBB3-2EAB-6A80-C6D2-0D9FD64E8052}"/>
              </a:ext>
            </a:extLst>
          </p:cNvPr>
          <p:cNvSpPr txBox="1"/>
          <p:nvPr/>
        </p:nvSpPr>
        <p:spPr>
          <a:xfrm>
            <a:off x="1024054" y="6492875"/>
            <a:ext cx="111679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/>
              <a:t>JoVE</a:t>
            </a:r>
            <a:r>
              <a:rPr lang="en-US" sz="1000" dirty="0"/>
              <a:t> Science Education Database. Microbiology. Growth Curves: Generating Growth Curves Using Colony Forming Units and Optical Density Measurements. </a:t>
            </a:r>
            <a:r>
              <a:rPr lang="en-US" sz="1000" dirty="0" err="1"/>
              <a:t>JoVE</a:t>
            </a:r>
            <a:r>
              <a:rPr lang="en-US" sz="1000" dirty="0"/>
              <a:t>, Cambridge, MA, (2023).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6672E-46D1-3433-2894-DEDAFFFD65B7}"/>
              </a:ext>
            </a:extLst>
          </p:cNvPr>
          <p:cNvSpPr txBox="1"/>
          <p:nvPr/>
        </p:nvSpPr>
        <p:spPr>
          <a:xfrm rot="16200000">
            <a:off x="-369920" y="3482881"/>
            <a:ext cx="296875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Log(Cell number)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3A654A-5DEE-054D-F0C4-BA63F9C81E77}"/>
              </a:ext>
            </a:extLst>
          </p:cNvPr>
          <p:cNvSpPr/>
          <p:nvPr/>
        </p:nvSpPr>
        <p:spPr>
          <a:xfrm>
            <a:off x="4114800" y="1538868"/>
            <a:ext cx="3824868" cy="4226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27FE1B-51B9-26EB-FF8F-358C97F6202A}"/>
              </a:ext>
            </a:extLst>
          </p:cNvPr>
          <p:cNvSpPr txBox="1"/>
          <p:nvPr/>
        </p:nvSpPr>
        <p:spPr>
          <a:xfrm>
            <a:off x="8069766" y="2389106"/>
            <a:ext cx="34382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Until resources are consumed…</a:t>
            </a:r>
          </a:p>
          <a:p>
            <a:endParaRPr lang="en-US" sz="3200" dirty="0"/>
          </a:p>
          <a:p>
            <a:r>
              <a:rPr lang="en-US" sz="2400" dirty="0"/>
              <a:t>Bonus Q:</a:t>
            </a:r>
          </a:p>
          <a:p>
            <a:r>
              <a:rPr lang="en-US" sz="2400" dirty="0"/>
              <a:t>How can you model resource consumption?</a:t>
            </a:r>
          </a:p>
        </p:txBody>
      </p:sp>
    </p:spTree>
    <p:extLst>
      <p:ext uri="{BB962C8B-B14F-4D97-AF65-F5344CB8AC3E}">
        <p14:creationId xmlns:p14="http://schemas.microsoft.com/office/powerpoint/2010/main" val="147310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schematic showing how the three models discussed here are related ...">
            <a:extLst>
              <a:ext uri="{FF2B5EF4-FFF2-40B4-BE49-F238E27FC236}">
                <a16:creationId xmlns:a16="http://schemas.microsoft.com/office/drawing/2014/main" id="{D96B3C96-6D97-66BE-79FB-5E0A0D7FD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1679064"/>
            <a:ext cx="10795000" cy="44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500169-884F-542A-9B5C-648992E21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Model Types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9E410F3-7F6C-ADD4-F2CB-8C094BB12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100" y="54486"/>
            <a:ext cx="46609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961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ED051-BF3B-9144-25DE-FCB1D40C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based models can simulate spatial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010A-E981-5BC6-C14C-E79141D8C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https://dan-ball.jp/en/javagame/dust/</a:t>
            </a:r>
            <a:endParaRPr lang="en-US" dirty="0"/>
          </a:p>
        </p:txBody>
      </p:sp>
      <p:pic>
        <p:nvPicPr>
          <p:cNvPr id="6" name="Picture 5" descr="A pixelated image of a beach&#10;&#10;AI-generated content may be incorrect.">
            <a:extLst>
              <a:ext uri="{FF2B5EF4-FFF2-40B4-BE49-F238E27FC236}">
                <a16:creationId xmlns:a16="http://schemas.microsoft.com/office/drawing/2014/main" id="{6C12D686-8E35-0274-488A-0915C7EFB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785" y="2433233"/>
            <a:ext cx="5454088" cy="4059641"/>
          </a:xfrm>
          <a:prstGeom prst="rect">
            <a:avLst/>
          </a:prstGeom>
        </p:spPr>
      </p:pic>
      <p:pic>
        <p:nvPicPr>
          <p:cNvPr id="8" name="Picture 7" descr="A black and yellow background&#10;&#10;AI-generated content may be incorrect.">
            <a:extLst>
              <a:ext uri="{FF2B5EF4-FFF2-40B4-BE49-F238E27FC236}">
                <a16:creationId xmlns:a16="http://schemas.microsoft.com/office/drawing/2014/main" id="{DEFBE2AB-647E-76C6-8A98-963465BCF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23" y="2433234"/>
            <a:ext cx="5454089" cy="405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93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 shows a cartoon of a cell dividing.">
            <a:extLst>
              <a:ext uri="{FF2B5EF4-FFF2-40B4-BE49-F238E27FC236}">
                <a16:creationId xmlns:a16="http://schemas.microsoft.com/office/drawing/2014/main" id="{C0A380ED-BFAD-5DD2-C3E3-C0B54141E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85879"/>
            <a:ext cx="7772400" cy="4895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BD599-E5E7-F42C-D523-2B3058DFF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0" y="5836797"/>
            <a:ext cx="7061200" cy="10414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749992-7549-1CDF-5195-09BB51CAF5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3556"/>
          <a:stretch>
            <a:fillRect/>
          </a:stretch>
        </p:blipFill>
        <p:spPr>
          <a:xfrm>
            <a:off x="5118099" y="0"/>
            <a:ext cx="7073900" cy="1041400"/>
          </a:xfrm>
          <a:prstGeom prst="rect">
            <a:avLst/>
          </a:prstGeom>
        </p:spPr>
      </p:pic>
      <p:pic>
        <p:nvPicPr>
          <p:cNvPr id="10" name="Picture 9" descr="A close-up of a list of names&#10;&#10;AI-generated content may be incorrect.">
            <a:extLst>
              <a:ext uri="{FF2B5EF4-FFF2-40B4-BE49-F238E27FC236}">
                <a16:creationId xmlns:a16="http://schemas.microsoft.com/office/drawing/2014/main" id="{556F34C1-973F-D971-A2C0-B7B4920BD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077" y="1061597"/>
            <a:ext cx="3760922" cy="84027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53CA636-013D-35F6-EE1C-6B1E1C721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3533614" cy="2014779"/>
          </a:xfrm>
        </p:spPr>
        <p:txBody>
          <a:bodyPr>
            <a:normAutofit/>
          </a:bodyPr>
          <a:lstStyle/>
          <a:p>
            <a:r>
              <a:rPr lang="en-US" dirty="0"/>
              <a:t>How can we model </a:t>
            </a:r>
            <a:r>
              <a:rPr lang="en-US" i="1" dirty="0"/>
              <a:t>everything</a:t>
            </a:r>
            <a:r>
              <a:rPr lang="en-US" dirty="0"/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22060-F725-9715-3734-27D242155C15}"/>
              </a:ext>
            </a:extLst>
          </p:cNvPr>
          <p:cNvSpPr txBox="1"/>
          <p:nvPr/>
        </p:nvSpPr>
        <p:spPr>
          <a:xfrm>
            <a:off x="-80563" y="6253195"/>
            <a:ext cx="5211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6"/>
              </a:rPr>
              <a:t>https://</a:t>
            </a:r>
            <a:r>
              <a:rPr lang="en-US" dirty="0" err="1">
                <a:hlinkClick r:id="rId6"/>
              </a:rPr>
              <a:t>www.youtube.com</a:t>
            </a:r>
            <a:r>
              <a:rPr lang="en-US" dirty="0">
                <a:hlinkClick r:id="rId6"/>
              </a:rPr>
              <a:t>/</a:t>
            </a:r>
            <a:r>
              <a:rPr lang="en-US" dirty="0" err="1">
                <a:hlinkClick r:id="rId6"/>
              </a:rPr>
              <a:t>watch?v</a:t>
            </a:r>
            <a:r>
              <a:rPr lang="en-US" dirty="0">
                <a:hlinkClick r:id="rId6"/>
              </a:rPr>
              <a:t>=EQ2ywYhYs5Y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C2738C-28F1-01F6-73D7-B8C0F1455531}"/>
              </a:ext>
            </a:extLst>
          </p:cNvPr>
          <p:cNvSpPr txBox="1"/>
          <p:nvPr/>
        </p:nvSpPr>
        <p:spPr>
          <a:xfrm>
            <a:off x="-69246" y="6508865"/>
            <a:ext cx="5188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7"/>
              </a:rPr>
              <a:t>https://www.youtube.com/watch?v=9JhVKu4GEA8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95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0E2C5-A422-5C3B-79CC-821F16DC6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E9A3C-EBA0-BCA9-705D-52020F2F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5357248" cy="1363850"/>
          </a:xfrm>
        </p:spPr>
        <p:txBody>
          <a:bodyPr>
            <a:normAutofit/>
          </a:bodyPr>
          <a:lstStyle/>
          <a:p>
            <a:r>
              <a:rPr lang="en-US" dirty="0"/>
              <a:t>Let’s build a model!</a:t>
            </a:r>
            <a:br>
              <a:rPr lang="en-US" dirty="0"/>
            </a:br>
            <a:r>
              <a:rPr lang="en-US" dirty="0"/>
              <a:t>(Chemotaxis)</a:t>
            </a:r>
          </a:p>
        </p:txBody>
      </p:sp>
      <p:pic>
        <p:nvPicPr>
          <p:cNvPr id="4" name="Picture 3" descr="A group of orange dots in the sky&#10;&#10;AI-generated content may be incorrect.">
            <a:extLst>
              <a:ext uri="{FF2B5EF4-FFF2-40B4-BE49-F238E27FC236}">
                <a16:creationId xmlns:a16="http://schemas.microsoft.com/office/drawing/2014/main" id="{8073743F-7696-2BAE-2F60-3966DE54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98" r="12655"/>
          <a:stretch>
            <a:fillRect/>
          </a:stretch>
        </p:blipFill>
        <p:spPr>
          <a:xfrm>
            <a:off x="5357247" y="0"/>
            <a:ext cx="6834753" cy="6858000"/>
          </a:xfrm>
          <a:prstGeom prst="rect">
            <a:avLst/>
          </a:prstGeom>
        </p:spPr>
      </p:pic>
      <p:pic>
        <p:nvPicPr>
          <p:cNvPr id="2052" name="Picture 4" descr="Chemotactic behavior of E. coli: run and tumble. | Download Scientific ...">
            <a:extLst>
              <a:ext uri="{FF2B5EF4-FFF2-40B4-BE49-F238E27FC236}">
                <a16:creationId xmlns:a16="http://schemas.microsoft.com/office/drawing/2014/main" id="{84694026-3B03-282A-CA16-FCA3F272F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71830"/>
            <a:ext cx="5186563" cy="288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104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293</Words>
  <Application>Microsoft Macintosh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Intro to Programming Part 4:  Modeling and simulations</vt:lpstr>
      <vt:lpstr>What is a model?</vt:lpstr>
      <vt:lpstr>A simple growth model:  Bacterial cells divide every 20 min  Starting from one cell, how many cells in 4 hours?  </vt:lpstr>
      <vt:lpstr>Doubling every 20 minutes is a “chain reaction”</vt:lpstr>
      <vt:lpstr>How would you predict the # of cells vs. time?</vt:lpstr>
      <vt:lpstr>Bacterial division leads to exponential growth</vt:lpstr>
      <vt:lpstr>Different Model Types</vt:lpstr>
      <vt:lpstr>Agent based models can simulate spatial dynamics</vt:lpstr>
      <vt:lpstr>How can we model everything?</vt:lpstr>
      <vt:lpstr>Let’s build a model! (Chemotaxis)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Morii-Sciolla, Christopher</dc:creator>
  <cp:lastModifiedBy>Morii-Sciolla, Christopher</cp:lastModifiedBy>
  <cp:revision>14</cp:revision>
  <dcterms:created xsi:type="dcterms:W3CDTF">2026-06-08T21:14:51Z</dcterms:created>
  <dcterms:modified xsi:type="dcterms:W3CDTF">2026-06-24T18:29:13Z</dcterms:modified>
</cp:coreProperties>
</file>